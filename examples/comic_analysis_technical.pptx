
<file path=[Content_Types].xml><?xml version="1.0" encoding="utf-8"?>
<ct:Types xmlns:ct="http://schemas.openxmlformats.org/package/2006/content-types">
  <ct:Default Extension="rels" ContentType="application/vnd.openxmlformats-package.relationships+xml"/>
  <ct:Default Extension="xml" ContentType="application/xml"/>
  <ct:Override PartName="/ppt/presentation.xml" ContentType="application/vnd.openxmlformats-officedocument.presentationml.presentation.main+xml"/>
  <ct:Override PartName="/ppt/slideMasters/slideMaster1.xml" ContentType="application/vnd.openxmlformats-officedocument.presentationml.slideMaster+xml"/>
  <ct:Override PartName="/ppt/slideLayouts/slideLayout1.xml" ContentType="application/vnd.openxmlformats-officedocument.presentationml.slideLayout+xml"/>
  <ct:Override PartName="/ppt/theme/theme1.xml" ContentType="application/vnd.openxmlformats-officedocument.theme+xml"/>
  <ct:Override PartName="/ppt/slides/slide1.xml" ContentType="application/vnd.openxmlformats-officedocument.presentationml.slide+xml"/>
  <ct:Override PartName="/ppt/slides/slide2.xml" ContentType="application/vnd.openxmlformats-officedocument.presentationml.slide+xml"/>
  <ct:Override PartName="/ppt/slides/slide3.xml" ContentType="application/vnd.openxmlformats-officedocument.presentationml.slide+xml"/>
  <ct:Override PartName="/ppt/slides/slide4.xml" ContentType="application/vnd.openxmlformats-officedocument.presentationml.slide+xml"/>
  <ct:Override PartName="/ppt/slides/slide5.xml" ContentType="application/vnd.openxmlformats-officedocument.presentationml.slide+xml"/>
  <ct:Override PartName="/ppt/slides/slide6.xml" ContentType="application/vnd.openxmlformats-officedocument.presentationml.slide+xml"/>
</ct:Types>
</file>

<file path=_rels/.rels><?xml version='1.0' encoding='utf-8'?>
<rel:Relationships xmlns:rel="http://schemas.openxmlformats.org/package/2006/relationships"><rel:Relationship Id="rId1" Type="http://schemas.openxmlformats.org/officeDocument/2006/relationships/officeDocument" Target="ppt/presentation.xml" /></rel: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r:id="rId1" id="2147483648"/>
  </p:sldMasterIdLst>
  <p:sldIdLst>
    <p:sldId id="257" r:id="rId2"/>
    <p:sldId id="258" r:id="rId3"/>
    <p:sldId id="259" r:id="rId4"/>
    <p:sldId id="260" r:id="rId5"/>
    <p:sldId id="261" r:id="rId6"/>
    <p:sldId id="262" r:id="rId7"/>
  </p:sldIdLst>
  <p:sldSz cx="9144000" cy="6858000"/>
  <p:notesSz cx="9144000" cy="6858000"/>
</p:presentation>
</file>

<file path=ppt/_rels/presentation.xml.rels><?xml version='1.0' encoding='utf-8'?>
<rel:Relationships xmlns:rel="http://schemas.openxmlformats.org/package/2006/relationships"><rel:Relationship Id="rId1" Type="http://schemas.openxmlformats.org/officeDocument/2006/relationships/slideMaster" Target="slideMasters/slideMaster1.xml" /><rel:Relationship Id="rId2" Type="http://schemas.openxmlformats.org/officeDocument/2006/relationships/slide" Target="slides/slide1.xml" /><rel:Relationship Id="rId3" Type="http://schemas.openxmlformats.org/officeDocument/2006/relationships/slide" Target="slides/slide2.xml" /><rel:Relationship Id="rId4" Type="http://schemas.openxmlformats.org/officeDocument/2006/relationships/slide" Target="slides/slide3.xml" /><rel:Relationship Id="rId5" Type="http://schemas.openxmlformats.org/officeDocument/2006/relationships/slide" Target="slides/slide4.xml" /><rel:Relationship Id="rId6" Type="http://schemas.openxmlformats.org/officeDocument/2006/relationships/slide" Target="slides/slide5.xml" /><rel:Relationship Id="rId7" Type="http://schemas.openxmlformats.org/officeDocument/2006/relationships/slide" Target="slides/slide6.xml" /></rel:Relationships>
</file>

<file path=ppt/slideLayouts/_rels/slideLayout1.xml.rels><?xml version='1.0' encoding='utf-8'?>
<rel:Relationships xmlns:rel="http://schemas.openxmlformats.org/package/2006/relationships"><rel:Relationship Id="rId1" Type="http://schemas.openxmlformats.org/officeDocument/2006/relationships/slideMaster" Target="../slideMasters/slideMaster1.xml" /></rel:Relationships>
</file>

<file path=ppt/slideLayouts/slideLayout1.xml><?xml version="1.0" encoding="utf-8"?>
<p:sldLayout xmlns:a="http://schemas.openxmlformats.org/drawingml/2006/main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9144000" cy="6858000"/>
        </a:xfrm>
      </p:grpSpPr>
    </p:spTree>
  </p:cSld>
  <p:clrMapOvr>
    <a:masterClrMapping/>
  </p:clrMapOvr>
</p:sldLayout>
</file>

<file path=ppt/slideMasters/_rels/slideMaster1.xml.rels><?xml version='1.0' encoding='utf-8'?>
<rel:Relationships xmlns:rel="http://schemas.openxmlformats.org/package/2006/relationships"><rel:Relationship Id="rId1" Type="http://schemas.openxmlformats.org/officeDocument/2006/relationships/slideLayout" Target="../slideLayouts/slideLayout1.xml" /><rel:Relationship Id="rId2" Type="http://schemas.openxmlformats.org/officeDocument/2006/relationships/theme" Target="../theme/theme1.xml" /></rel: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9144000" cy="685800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r:id="rId1" id="2147483649"/>
  </p:sldLayoutIdLst>
</p:sldMaster>
</file>

<file path=ppt/slides/_rels/slide1.xml.rels><?xml version='1.0' encoding='utf-8'?>
<rel:Relationships xmlns:rel="http://schemas.openxmlformats.org/package/2006/relationships"><rel:Relationship Id="rId1" Type="http://schemas.openxmlformats.org/officeDocument/2006/relationships/slideLayout" Target="../slideLayouts/slideLayout1.xml" /></rel:Relationships>
</file>

<file path=ppt/slides/_rels/slide2.xml.rels><?xml version='1.0' encoding='utf-8'?>
<rel:Relationships xmlns:rel="http://schemas.openxmlformats.org/package/2006/relationships"><rel:Relationship Id="rId1" Type="http://schemas.openxmlformats.org/officeDocument/2006/relationships/slideLayout" Target="../slideLayouts/slideLayout1.xml" /></rel:Relationships>
</file>

<file path=ppt/slides/_rels/slide3.xml.rels><?xml version='1.0' encoding='utf-8'?>
<rel:Relationships xmlns:rel="http://schemas.openxmlformats.org/package/2006/relationships"><rel:Relationship Id="rId1" Type="http://schemas.openxmlformats.org/officeDocument/2006/relationships/slideLayout" Target="../slideLayouts/slideLayout1.xml" /></rel:Relationships>
</file>

<file path=ppt/slides/_rels/slide4.xml.rels><?xml version='1.0' encoding='utf-8'?>
<rel:Relationships xmlns:rel="http://schemas.openxmlformats.org/package/2006/relationships"><rel:Relationship Id="rId1" Type="http://schemas.openxmlformats.org/officeDocument/2006/relationships/slideLayout" Target="../slideLayouts/slideLayout1.xml" /></rel:Relationships>
</file>

<file path=ppt/slides/_rels/slide5.xml.rels><?xml version='1.0' encoding='utf-8'?>
<rel:Relationships xmlns:rel="http://schemas.openxmlformats.org/package/2006/relationships"><rel:Relationship Id="rId1" Type="http://schemas.openxmlformats.org/officeDocument/2006/relationships/slideLayout" Target="../slideLayouts/slideLayout1.xml" /></rel:Relationships>
</file>

<file path=ppt/slides/_rels/slide6.xml.rels><?xml version='1.0' encoding='utf-8'?>
<rel:Relationships xmlns:rel="http://schemas.openxmlformats.org/package/2006/relationships"><rel:Relationship Id="rId1" Type="http://schemas.openxmlformats.org/officeDocument/2006/relationships/slideLayout" Target="../slideLayouts/slideLayout1.xml" /></rel:Relationships>
</file>

<file path=ppt/slides/slide1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9144000" cy="6858000"/>
        </a:xfrm>
      </p:grpSpPr>
      <p:sp>
        <p:nvSpPr>
          <p:cNvPr id="2" name="TextBox 2"/>
          <p:cNvSpPr txBox="1"/>
          <p:nvPr/>
        </p:nvSpPr>
        <p:spPr>
          <a:xfrm>
            <a:off x="457200" y="1828800"/>
            <a:ext cx="8229600" cy="137160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ctr"/>
            <a:r>
              <a:rPr lang="en-US" sz="4400" b="1">
                <a:solidFill>
                  <a:srgbClr val="000000"/>
                </a:solidFill>
              </a:rPr>
              <a:t>Comic Analysis: Technical Deep Dive</a:t>
            </a:r>
            <a:endParaRPr lang="en-US"/>
          </a:p>
        </p:txBody>
      </p:sp>
      <p:sp>
        <p:nvSpPr>
          <p:cNvPr id="3" name="TextBox 3"/>
          <p:cNvSpPr txBox="1"/>
          <p:nvPr/>
        </p:nvSpPr>
        <p:spPr>
          <a:xfrm>
            <a:off x="457200" y="3657600"/>
            <a:ext cx="8229600" cy="91440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ctr"/>
            <a:r>
              <a:rPr lang="en-US" sz="2400" b="0">
                <a:solidFill>
                  <a:srgbClr val="666666"/>
                </a:solidFill>
              </a:rPr>
              <a:t>Architecture, Implementation, and Methodology</a:t>
            </a:r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9144000" cy="6858000"/>
        </a:xfrm>
      </p:grpSpPr>
      <p:sp>
        <p:nvSpPr>
          <p:cNvPr id="2" name="TextBox 2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l"/>
            <a:r>
              <a:rPr lang="en-US" sz="3200" b="1">
                <a:solidFill>
                  <a:srgbClr val="000000"/>
                </a:solidFill>
              </a:rPr>
              <a:t>System Architecture</a:t>
            </a:r>
            <a:endParaRPr lang="en-US"/>
          </a:p>
        </p:txBody>
      </p:sp>
      <p:sp>
        <p:nvSpPr>
          <p:cNvPr id="3" name="TextBox 3"/>
          <p:cNvSpPr txBox="1"/>
          <p:nvPr/>
        </p:nvSpPr>
        <p:spPr>
          <a:xfrm>
            <a:off x="457200" y="1828800"/>
            <a:ext cx="8229600" cy="457100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l"/>
            <a:r>
              <a:rPr lang="en-US" sz="1800" b="0">
                <a:solidFill>
                  <a:srgbClr val="000000"/>
                </a:solidFill>
              </a:rPr>
              <a:t>• Modular design with separable components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Pipeline-based data processing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Notebook-driven analysis workflow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Extensible plugin architecture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Integration with external APIs</a:t>
            </a:r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9144000" cy="6858000"/>
        </a:xfrm>
      </p:grpSpPr>
      <p:sp>
        <p:nvSpPr>
          <p:cNvPr id="2" name="TextBox 2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l"/>
            <a:r>
              <a:rPr lang="en-US" sz="3200" b="1">
                <a:solidFill>
                  <a:srgbClr val="000000"/>
                </a:solidFill>
              </a:rPr>
              <a:t>Data Processing Pipeline</a:t>
            </a:r>
            <a:endParaRPr lang="en-US"/>
          </a:p>
        </p:txBody>
      </p:sp>
      <p:sp>
        <p:nvSpPr>
          <p:cNvPr id="3" name="TextBox 3"/>
          <p:cNvSpPr txBox="1"/>
          <p:nvPr/>
        </p:nvSpPr>
        <p:spPr>
          <a:xfrm>
            <a:off x="457200" y="1828800"/>
            <a:ext cx="8229600" cy="457100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l"/>
            <a:r>
              <a:rPr lang="en-US" sz="1800" b="0">
                <a:solidFill>
                  <a:srgbClr val="000000"/>
                </a:solidFill>
              </a:rPr>
              <a:t>• Input: Image ingestion and validation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Processing: Feature extraction and OCR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Analysis: Object detection and classification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Output: Data structuring and export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Storage: Results and metadata management</a:t>
            </a:r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9144000" cy="6858000"/>
        </a:xfrm>
      </p:grpSpPr>
      <p:sp>
        <p:nvSpPr>
          <p:cNvPr id="2" name="TextBox 2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l"/>
            <a:r>
              <a:rPr lang="en-US" sz="3200" b="1">
                <a:solidFill>
                  <a:srgbClr val="000000"/>
                </a:solidFill>
              </a:rPr>
              <a:t>Computer Vision Components</a:t>
            </a:r>
            <a:endParaRPr lang="en-US"/>
          </a:p>
        </p:txBody>
      </p:sp>
      <p:sp>
        <p:nvSpPr>
          <p:cNvPr id="3" name="TextBox 3"/>
          <p:cNvSpPr txBox="1"/>
          <p:nvPr/>
        </p:nvSpPr>
        <p:spPr>
          <a:xfrm>
            <a:off x="457200" y="1828800"/>
            <a:ext cx="8229600" cy="457100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l"/>
            <a:r>
              <a:rPr lang="en-US" sz="1800" b="0">
                <a:solidFill>
                  <a:srgbClr val="000000"/>
                </a:solidFill>
              </a:rPr>
              <a:t>• Panel Detection: Identifying panels in pages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Text Recognition: OCR for speech bubbles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Character Detection: Identifying characters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Face Recognition: Tracking across panels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Scene Classification: Categorizing content</a:t>
            </a:r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9144000" cy="6858000"/>
        </a:xfrm>
      </p:grpSpPr>
      <p:sp>
        <p:nvSpPr>
          <p:cNvPr id="2" name="TextBox 2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l"/>
            <a:r>
              <a:rPr lang="en-US" sz="3200" b="1">
                <a:solidFill>
                  <a:srgbClr val="000000"/>
                </a:solidFill>
              </a:rPr>
              <a:t>Machine Learning Models</a:t>
            </a:r>
            <a:endParaRPr lang="en-US"/>
          </a:p>
        </p:txBody>
      </p:sp>
      <p:sp>
        <p:nvSpPr>
          <p:cNvPr id="3" name="TextBox 3"/>
          <p:cNvSpPr txBox="1"/>
          <p:nvPr/>
        </p:nvSpPr>
        <p:spPr>
          <a:xfrm>
            <a:off x="457200" y="1828800"/>
            <a:ext cx="8229600" cy="457100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l"/>
            <a:r>
              <a:rPr lang="en-US" sz="1800" b="0">
                <a:solidFill>
                  <a:srgbClr val="000000"/>
                </a:solidFill>
              </a:rPr>
              <a:t>• CNNs for image analysis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Object detection (YOLO, R-CNN)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Text recognition with Tesseract OCR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Transfer learning from pre-trained models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Custom models on comic datasets</a:t>
            </a:r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9144000" cy="6858000"/>
        </a:xfrm>
      </p:grpSpPr>
      <p:sp>
        <p:nvSpPr>
          <p:cNvPr id="2" name="TextBox 2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l"/>
            <a:r>
              <a:rPr lang="en-US" sz="3200" b="1">
                <a:solidFill>
                  <a:srgbClr val="000000"/>
                </a:solidFill>
              </a:rPr>
              <a:t>Performance Considerations</a:t>
            </a:r>
            <a:endParaRPr lang="en-US"/>
          </a:p>
        </p:txBody>
      </p:sp>
      <p:sp>
        <p:nvSpPr>
          <p:cNvPr id="3" name="TextBox 3"/>
          <p:cNvSpPr txBox="1"/>
          <p:nvPr/>
        </p:nvSpPr>
        <p:spPr>
          <a:xfrm>
            <a:off x="457200" y="1828800"/>
            <a:ext cx="8229600" cy="457100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l"/>
            <a:r>
              <a:rPr lang="en-US" sz="1800" b="0">
                <a:solidFill>
                  <a:srgbClr val="000000"/>
                </a:solidFill>
              </a:rPr>
              <a:t>• Batch processing for large collections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GPU acceleration for ML inference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Caching of intermediate results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Parallel processing where applicable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Memory-efficient data handling</a:t>
            </a:r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</a:majorFont>
      <a:minorFont>
        <a:latin typeface="Calibri"/>
      </a:minorFont>
    </a:fontScheme>
    <a:fmtScheme name="Office">
      <a:fillStyleLst>
        <a:solidFill>
          <a:schemeClr val="phClr"/>
        </a:solidFill>
      </a:fillStyleLst>
      <a:lnStyleLst>
        <a:ln w="6350" cap="flat" cmpd="sng" algn="ctr"/>
      </a:lnStyleLst>
      <a:effectStyleLst>
        <a:effectStyle>
          <a:effectLst/>
        </a:effectStyle>
      </a:effectStyleLst>
      <a:bgFillStyleLst>
        <a:solidFill>
          <a:schemeClr val="phClr"/>
        </a:solidFill>
      </a:bgFillStyleLst>
    </a:fmtScheme>
  </a:themeElements>
</a:theme>
</file>